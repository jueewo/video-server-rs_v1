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0"/>
            <a:ext cx="2743200" cy="2377440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5143500"/>
          </a:xfrm>
          <a:prstGeom prst="rect">
            <a:avLst/>
          </a:prstGeom>
          <a:solidFill>
            <a:srgbClr val="2F6FD9">
              <a:alpha val="20000"/>
            </a:srgbClr>
          </a:solidFill>
          <a:ln w="12700">
            <a:solidFill>
              <a:srgbClr val="2F6F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868680"/>
            <a:ext cx="82296" cy="1828800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749808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your business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41248" y="1481328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A8C8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one place.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41248" y="221284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i="1" dirty="0">
                <a:solidFill>
                  <a:srgbClr val="7AABD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your own server.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41248" y="2971800"/>
            <a:ext cx="4572000" cy="36576"/>
          </a:xfrm>
          <a:prstGeom prst="rect">
            <a:avLst/>
          </a:prstGeom>
          <a:solidFill>
            <a:srgbClr val="3B8BF5">
              <a:alpha val="60000"/>
            </a:srgbClr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31546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business workspace  |  Executive &amp; Investor Overview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F6FD9"/>
          </a:solidFill>
          <a:ln w="12700">
            <a:solidFill>
              <a:srgbClr val="2F6F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5A7A"/>
                </a:solidFill>
              </a:rPr>
              <a:t>2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47472" y="228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472" y="475488"/>
            <a:ext cx="84490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SMBs run their business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7+ separate SaaS tools.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47472" y="1572768"/>
            <a:ext cx="1965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572768"/>
            <a:ext cx="1965960" cy="45720"/>
          </a:xfrm>
          <a:prstGeom prst="rect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1737360"/>
            <a:ext cx="384048" cy="384048"/>
          </a:xfrm>
          <a:prstGeom prst="ellipse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75488" y="223113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stack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5488" y="2651760"/>
            <a:ext cx="17465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+ Vimeo + Miro + Teachable + Frame.vr + S3 + Webflow — all separate subscriptions, separate logins, separate costs.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23160" y="1572768"/>
            <a:ext cx="1965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23160" y="1572768"/>
            <a:ext cx="1965960" cy="45720"/>
          </a:xfrm>
          <a:prstGeom prst="rect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1176" y="1737360"/>
            <a:ext cx="384048" cy="384048"/>
          </a:xfrm>
          <a:prstGeom prst="ellipse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51176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51176" y="223113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leaving the building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551176" y="2651760"/>
            <a:ext cx="17465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data, client files, process docs, training content — spread across vendor clouds. No single point of control.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498848" y="1572768"/>
            <a:ext cx="1965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98848" y="1572768"/>
            <a:ext cx="1965960" cy="45720"/>
          </a:xfrm>
          <a:prstGeom prst="rect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26864" y="1737360"/>
            <a:ext cx="384048" cy="384048"/>
          </a:xfrm>
          <a:prstGeom prst="ellipse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2686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26864" y="223113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exposure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626864" y="2651760"/>
            <a:ext cx="17465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Pharma, finance, and healthcare can't afford SaaS-hosted content. GDPR, NDA, and audit trails require on-premises control.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574536" y="1572768"/>
            <a:ext cx="1965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74536" y="1572768"/>
            <a:ext cx="1965960" cy="45720"/>
          </a:xfrm>
          <a:prstGeom prst="rect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02552" y="1737360"/>
            <a:ext cx="384048" cy="384048"/>
          </a:xfrm>
          <a:prstGeom prst="ellipse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02552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702552" y="223113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pricing creep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702552" y="2651760"/>
            <a:ext cx="17465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Frame.vr alone is expensive. Stack 7 tools and monthly costs compound — for capabilities you should own outright.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95C8"/>
                </a:solidFill>
              </a:rPr>
              <a:t>3 / 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577840" y="0"/>
            <a:ext cx="3566160" cy="5143500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77840" y="0"/>
            <a:ext cx="64008" cy="5143500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228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A8C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530352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platform.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server.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tool.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02920" y="23317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A8C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self-hosted binary that replaces your entire SaaS stack — file management, media production, process modeling, immersive training, and custom data apps — all running on your own infrastructure.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337560"/>
            <a:ext cx="164592" cy="164592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33101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Self-hosted, single Rust binary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66744"/>
            <a:ext cx="164592" cy="164592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36393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management + media + BPMN + 3D + training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995928"/>
            <a:ext cx="164592" cy="164592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WebDAV | API | MCP — open to any tool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325112"/>
            <a:ext cx="164592" cy="164592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" y="42976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Casdoor auth with built-in licensing/payment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4654296"/>
            <a:ext cx="164592" cy="164592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46268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GDPR-trivial — data never leaves your server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715000" y="7772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9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715000" y="105156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7+</a:t>
            </a:r>
            <a:endParaRPr lang="en-US" sz="8000" dirty="0"/>
          </a:p>
        </p:txBody>
      </p:sp>
      <p:sp>
        <p:nvSpPr>
          <p:cNvPr id="20" name="Text 18"/>
          <p:cNvSpPr/>
          <p:nvPr/>
        </p:nvSpPr>
        <p:spPr>
          <a:xfrm>
            <a:off x="5715000" y="2084832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8C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tools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8C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one platform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8C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897880" y="2971800"/>
            <a:ext cx="2834640" cy="27432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15000" y="30632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7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93992" y="30632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7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Vimeo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72984" y="30632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7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Miro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715000" y="339242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7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Frame.vr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793992" y="339242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7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872984" y="339242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7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715000" y="3721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7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Webflow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F6FD9"/>
          </a:solidFill>
          <a:ln w="12700">
            <a:solidFill>
              <a:srgbClr val="2F6F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5A7A"/>
                </a:solidFill>
              </a:rPr>
              <a:t>4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47472" y="228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472" y="475488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operating system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your business.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47472" y="157276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mental model. Nothing to learn across tools.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47472" y="2121408"/>
            <a:ext cx="5074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2121408"/>
            <a:ext cx="64008" cy="777240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22128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36192" y="22128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Your Company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" y="2523744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home for all your data, content, and processes. Shared across your team.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47472" y="3035808"/>
            <a:ext cx="5074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7472" y="3035808"/>
            <a:ext cx="64008" cy="777240"/>
          </a:xfrm>
          <a:prstGeom prst="rect">
            <a:avLst/>
          </a:prstGeom>
          <a:solidFill>
            <a:srgbClr val="5EC4B6"/>
          </a:solidFill>
          <a:ln w="12700">
            <a:solidFill>
              <a:srgbClr val="5EC4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36192" y="31272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Departments &amp; Projects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2064" y="3438144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folder knows what it contains. Open a folder, the right app opens automatically.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47472" y="3950208"/>
            <a:ext cx="5074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" y="3950208"/>
            <a:ext cx="64008" cy="7772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" y="40416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B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536192" y="4041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The Tools You Need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2064" y="4352544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3D space, media, courses, data platforms — built-in or bring your own.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23560" y="502920"/>
            <a:ext cx="3154680" cy="437083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23560" y="502920"/>
            <a:ext cx="3154680" cy="45720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0" y="64008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Types (built-in)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760720" y="1243584"/>
            <a:ext cx="91440" cy="91440"/>
          </a:xfrm>
          <a:prstGeom prst="ellipse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61888" y="11521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library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760720" y="1636776"/>
            <a:ext cx="91440" cy="91440"/>
          </a:xfrm>
          <a:prstGeom prst="ellipse">
            <a:avLst/>
          </a:prstGeom>
          <a:solidFill>
            <a:srgbClr val="5EC4B6"/>
          </a:solidFill>
          <a:ln w="12700">
            <a:solidFill>
              <a:srgbClr val="5EC4B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61888" y="154533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process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760720" y="2029968"/>
            <a:ext cx="91440" cy="91440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61888" y="19385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virtual space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760720" y="2423160"/>
            <a:ext cx="91440" cy="91440"/>
          </a:xfrm>
          <a:prstGeom prst="ellipse">
            <a:avLst/>
          </a:prstGeom>
          <a:solidFill>
            <a:srgbClr val="3DBD7D"/>
          </a:solidFill>
          <a:ln w="12700">
            <a:solidFill>
              <a:srgbClr val="3DBD7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61888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course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760720" y="2816352"/>
            <a:ext cx="91440" cy="91440"/>
          </a:xfrm>
          <a:prstGeom prst="ellipse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61888" y="272491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/ data app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760720" y="3209544"/>
            <a:ext cx="91440" cy="91440"/>
          </a:xfrm>
          <a:prstGeom prst="ellipse">
            <a:avLst/>
          </a:prstGeom>
          <a:solidFill>
            <a:srgbClr val="A8C8FA"/>
          </a:solidFill>
          <a:ln w="12700">
            <a:solidFill>
              <a:srgbClr val="A8C8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61888" y="311810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website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760720" y="3602736"/>
            <a:ext cx="91440" cy="91440"/>
          </a:xfrm>
          <a:prstGeom prst="ellipse">
            <a:avLst/>
          </a:prstGeom>
          <a:solidFill>
            <a:srgbClr val="9ABFEE"/>
          </a:solidFill>
          <a:ln w="12700">
            <a:solidFill>
              <a:srgbClr val="9ABF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61888" y="351129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vault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760720" y="3995928"/>
            <a:ext cx="91440" cy="91440"/>
          </a:xfrm>
          <a:prstGeom prst="ellipse">
            <a:avLst/>
          </a:prstGeom>
          <a:solidFill>
            <a:srgbClr val="4A5A7A"/>
          </a:solidFill>
          <a:ln w="12700">
            <a:solidFill>
              <a:srgbClr val="4A5A7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61888" y="39044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install your own (YAML)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95C8"/>
                </a:solidFill>
              </a:rPr>
              <a:t>5 / 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228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A8C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472" y="475488"/>
            <a:ext cx="84490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built in.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integrations needed.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47472" y="1572768"/>
            <a:ext cx="2633472" cy="1993392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572768"/>
            <a:ext cx="2633472" cy="45720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" y="1682496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Production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84632" y="2075688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Upload &gt; transcode &gt; HLS stream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" y="241401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Multi-quality adaptive bitrate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84632" y="275234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RTMP live streaming (MediaMTX)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84632" y="3090672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Thumbnail + poster generation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108960" y="1572768"/>
            <a:ext cx="2633472" cy="1993392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08960" y="1572768"/>
            <a:ext cx="2633472" cy="45720"/>
          </a:xfrm>
          <a:prstGeom prst="rect">
            <a:avLst/>
          </a:prstGeom>
          <a:solidFill>
            <a:srgbClr val="5EC4B6"/>
          </a:solidFill>
          <a:ln w="12700">
            <a:solidFill>
              <a:srgbClr val="5EC4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682496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Modeling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246120" y="2075688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BPMN diagram editing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246120" y="241401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Process simulation roadmap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46120" y="275234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Link processes to content &amp; training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246120" y="3090672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Unique in any self-hosted tool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870448" y="1572768"/>
            <a:ext cx="2633472" cy="1993392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70448" y="1572768"/>
            <a:ext cx="2633472" cy="457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07608" y="1682496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B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Immersive 3D Space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007608" y="2075688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Self-hosted Frame.vr alternative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007608" y="241401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Client delivery &amp; onboarding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07608" y="275234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Consulting presentations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007608" y="3090672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Training in virtual environments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47472" y="3694176"/>
            <a:ext cx="2633472" cy="1993392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47472" y="3694176"/>
            <a:ext cx="2633472" cy="45720"/>
          </a:xfrm>
          <a:prstGeom prst="rect">
            <a:avLst/>
          </a:prstGeom>
          <a:solidFill>
            <a:srgbClr val="3DBD7D"/>
          </a:solidFill>
          <a:ln w="12700">
            <a:solidFill>
              <a:srgbClr val="3DBD7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" y="3803904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DB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Training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84632" y="419709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Course viewer with full media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4632" y="453542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Not academic — business onboarding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84632" y="4873752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Immersive + traditional formats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" y="521208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Attach to any workspace folder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108960" y="3694176"/>
            <a:ext cx="2633472" cy="1993392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108960" y="3694176"/>
            <a:ext cx="2633472" cy="45720"/>
          </a:xfrm>
          <a:prstGeom prst="rect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46120" y="3803904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Apps (js-tool)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3246120" y="419709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Host Vue3 / Preact apps in folders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246120" y="453542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Consulting work product delivery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246120" y="4873752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Pharma / finance data platforms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246120" y="521208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Clients own the environment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870448" y="3694176"/>
            <a:ext cx="2633472" cy="1993392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870448" y="3694176"/>
            <a:ext cx="2633472" cy="45720"/>
          </a:xfrm>
          <a:prstGeom prst="rect">
            <a:avLst/>
          </a:prstGeom>
          <a:solidFill>
            <a:srgbClr val="9ABFEE"/>
          </a:solidFill>
          <a:ln w="12700">
            <a:solidFill>
              <a:srgbClr val="9ABFE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07608" y="3803904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Sites &amp; Files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007608" y="419709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Host Astro / static sites from folders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007608" y="453542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WebDAV — mount as a network drive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007608" y="4873752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Document management + serving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007608" y="521208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 PDF, BPMN, image, video — all in one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F6FD9"/>
          </a:solidFill>
          <a:ln w="12700">
            <a:solidFill>
              <a:srgbClr val="2F6F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5A7A"/>
                </a:solidFill>
              </a:rPr>
              <a:t>6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47472" y="228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472" y="475488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nobody else has.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47472" y="12344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234440"/>
            <a:ext cx="64008" cy="1371600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1362456"/>
            <a:ext cx="310896" cy="310896"/>
          </a:xfrm>
          <a:prstGeom prst="ellipse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1362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32688" y="1362456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— single binary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2064" y="1746504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memory, no GC pauses, no runtime. Runs on cheap hardware. Real differentiator vs Python/Node alternatives.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127248" y="12344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27248" y="1234440"/>
            <a:ext cx="64008" cy="1371600"/>
          </a:xfrm>
          <a:prstGeom prst="rect">
            <a:avLst/>
          </a:prstGeom>
          <a:solidFill>
            <a:srgbClr val="3DBD7D"/>
          </a:solidFill>
          <a:ln w="12700">
            <a:solidFill>
              <a:srgbClr val="3DBD7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91840" y="1362456"/>
            <a:ext cx="310896" cy="310896"/>
          </a:xfrm>
          <a:prstGeom prst="ellipse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1362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712464" y="1362456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+ content + training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91840" y="1746504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other SMB platform connects process modeling, content delivery, and business training in one place.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07024" y="12344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07024" y="1234440"/>
            <a:ext cx="64008" cy="137160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71616" y="1362456"/>
            <a:ext cx="310896" cy="310896"/>
          </a:xfrm>
          <a:prstGeom prst="ellipse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71616" y="1362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92240" y="1362456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3D space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71616" y="1746504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Frame.vr is SaaS and expensive. This is yours. Immersive client delivery, consulting, and onboarding on your server.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47472" y="274320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7472" y="2743200"/>
            <a:ext cx="64008" cy="1371600"/>
          </a:xfrm>
          <a:prstGeom prst="rect">
            <a:avLst/>
          </a:prstGeom>
          <a:solidFill>
            <a:srgbClr val="5EC4B6"/>
          </a:solidFill>
          <a:ln w="12700">
            <a:solidFill>
              <a:srgbClr val="5EC4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" y="2871216"/>
            <a:ext cx="310896" cy="310896"/>
          </a:xfrm>
          <a:prstGeom prst="ellipse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32688" y="2871216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AI-native by design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2064" y="3255264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can read, search, and work with all your business content. 2+ years ahead of every self-hosted alternative.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127248" y="274320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127248" y="2743200"/>
            <a:ext cx="64008" cy="1371600"/>
          </a:xfrm>
          <a:prstGeom prst="rect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2871216"/>
            <a:ext cx="310896" cy="310896"/>
          </a:xfrm>
          <a:prstGeom prst="ellipse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1840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712464" y="2871216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Casdoor licensing built in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291840" y="3255264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SSO, MFA, and payment/licensing for hosted instances. No other auth tool offers this. Enables monetization of hosted deployments.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907024" y="274320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907024" y="2743200"/>
            <a:ext cx="64008" cy="1371600"/>
          </a:xfrm>
          <a:prstGeom prst="rect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71616" y="2871216"/>
            <a:ext cx="310896" cy="310896"/>
          </a:xfrm>
          <a:prstGeom prst="ellipse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71616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92240" y="2871216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data sovereignty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071616" y="3255264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GDPR-trivial. Pharma, finance, and healthcare clients keep data on their server. No cloud dependency, no vendor risk.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95C8"/>
                </a:solidFill>
              </a:rPr>
              <a:t>7 / 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228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A8C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— CONSULTING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472" y="475488"/>
            <a:ext cx="84490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delivery vehicle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your consulting work.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47472" y="15087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A8C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consultant building prototypic data platforms for regulated industries (e.g. pharma), the platform becomes how you deliver — not just a tool you use.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7472" y="2331720"/>
            <a:ext cx="2788920" cy="1783080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2331720"/>
            <a:ext cx="2788920" cy="457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" y="2450592"/>
            <a:ext cx="347472" cy="347472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450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41832" y="24688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data app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4632" y="28803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Vue3 or Preact interactive platform — pharma dashboards, process tools, analysis apps.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2331720"/>
            <a:ext cx="2788920" cy="1783080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91840" y="2331720"/>
            <a:ext cx="2788920" cy="457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9000" y="2450592"/>
            <a:ext cx="347472" cy="347472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2450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86200" y="24688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as js-tool folder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29000" y="28803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app into a workspace folder typed as 'js-tool'. No extra hosting needed.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36208" y="2331720"/>
            <a:ext cx="2788920" cy="1783080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36208" y="2331720"/>
            <a:ext cx="2788920" cy="457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73368" y="2450592"/>
            <a:ext cx="347472" cy="347472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73368" y="2450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30568" y="24688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gets everything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373368" y="28803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B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data, their BPMN processes, their training, and your custom app — in one self-hosted environment.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7472" y="4279392"/>
            <a:ext cx="8449056" cy="640080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4279392"/>
            <a:ext cx="64008" cy="64008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4334256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A8C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concrete, immediately usable proof of the 'bring your own apps' model — and a strong competitive differentiator for consulting delivery.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F6FD9"/>
          </a:solidFill>
          <a:ln w="12700">
            <a:solidFill>
              <a:srgbClr val="2F6F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5A7A"/>
                </a:solidFill>
              </a:rPr>
              <a:t>8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47472" y="228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472" y="475488"/>
            <a:ext cx="84490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high-value segments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no complete self-hosted solution.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47472" y="1572768"/>
            <a:ext cx="2788920" cy="3364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572768"/>
            <a:ext cx="2788920" cy="45720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" y="166420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 &amp; Agency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84632" y="199339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underserved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84632" y="2286000"/>
            <a:ext cx="2423160" cy="27432"/>
          </a:xfrm>
          <a:prstGeom prst="rect">
            <a:avLst/>
          </a:prstGeom>
          <a:solidFill>
            <a:srgbClr val="D8E4F8"/>
          </a:solidFill>
          <a:ln w="12700">
            <a:solidFill>
              <a:srgbClr val="D8E4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" y="2359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Running 5-7 SaaS tools, ready to consolidate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4632" y="27980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Agencies: media + process + client delivery in one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4632" y="323697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Cost-sensitive, privacy-aware, want to own their stack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" y="3675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Immediate ROI: one bill instead of seven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4632" y="4224528"/>
            <a:ext cx="2423160" cy="27432"/>
          </a:xfrm>
          <a:prstGeom prst="rect">
            <a:avLst/>
          </a:prstGeom>
          <a:solidFill>
            <a:srgbClr val="D8E4F8"/>
          </a:solidFill>
          <a:ln w="12700">
            <a:solidFill>
              <a:srgbClr val="D8E4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4297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Replaces: Notion + Vimeo + Miro + Teachable + Frame.vr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91840" y="1572768"/>
            <a:ext cx="2788920" cy="3364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0" y="1572768"/>
            <a:ext cx="2788920" cy="457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29000" y="166420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429000" y="199339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5B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Immediate, concrete use case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429000" y="2286000"/>
            <a:ext cx="2423160" cy="27432"/>
          </a:xfrm>
          <a:prstGeom prst="rect">
            <a:avLst/>
          </a:prstGeom>
          <a:solidFill>
            <a:srgbClr val="D8E4F8"/>
          </a:solidFill>
          <a:ln w="12700">
            <a:solidFill>
              <a:srgbClr val="D8E4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2359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Deliver data apps + BPMN + training to clients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29000" y="27980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Client gets entire environment — not just a report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29000" y="323697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Proof of model: pharma data platforms via js-tool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29000" y="3675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Recurring revenue: clients run the platform themselves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29000" y="4224528"/>
            <a:ext cx="2423160" cy="27432"/>
          </a:xfrm>
          <a:prstGeom prst="rect">
            <a:avLst/>
          </a:prstGeom>
          <a:solidFill>
            <a:srgbClr val="D8E4F8"/>
          </a:solidFill>
          <a:ln w="12700">
            <a:solidFill>
              <a:srgbClr val="D8E4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29000" y="4297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F5B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Replaces: Bespoke consulting delivery + hosting overhead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36208" y="1572768"/>
            <a:ext cx="2788920" cy="3364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36208" y="1572768"/>
            <a:ext cx="2788920" cy="45720"/>
          </a:xfrm>
          <a:prstGeom prst="rect">
            <a:avLst/>
          </a:prstGeom>
          <a:solidFill>
            <a:srgbClr val="3DBD7D"/>
          </a:solidFill>
          <a:ln w="12700">
            <a:solidFill>
              <a:srgbClr val="3DBD7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73368" y="166420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Industries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373368" y="199339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3DB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Pharma, Finance, Healthcare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373368" y="2286000"/>
            <a:ext cx="2423160" cy="27432"/>
          </a:xfrm>
          <a:prstGeom prst="rect">
            <a:avLst/>
          </a:prstGeom>
          <a:solidFill>
            <a:srgbClr val="D8E4F8"/>
          </a:solidFill>
          <a:ln w="12700">
            <a:solidFill>
              <a:srgbClr val="D8E4F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2359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Data cannot leave the building — legally required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373368" y="27980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GDPR, HIPAA, audit trails are non-negotiable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73368" y="323697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No self-hosted competitor offers this breadth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373368" y="3675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Large contracts, long retention, security-first buyers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373368" y="4224528"/>
            <a:ext cx="2423160" cy="27432"/>
          </a:xfrm>
          <a:prstGeom prst="rect">
            <a:avLst/>
          </a:prstGeom>
          <a:solidFill>
            <a:srgbClr val="D8E4F8"/>
          </a:solidFill>
          <a:ln w="12700">
            <a:solidFill>
              <a:srgbClr val="D8E4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73368" y="4297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3DB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Replaces: On-prem + fragmented tools + compliance risk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F6FD9"/>
          </a:solidFill>
          <a:ln w="12700">
            <a:solidFill>
              <a:srgbClr val="2F6F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5A7A"/>
                </a:solidFill>
              </a:rPr>
              <a:t>9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47472" y="228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472" y="475488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strategic assessment.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47472" y="1261872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261872"/>
            <a:ext cx="4160520" cy="45720"/>
          </a:xfrm>
          <a:prstGeom prst="rect">
            <a:avLst/>
          </a:prstGeom>
          <a:solidFill>
            <a:srgbClr val="3DBD7D"/>
          </a:solidFill>
          <a:ln w="12700">
            <a:solidFill>
              <a:srgbClr val="3DBD7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" y="13533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DB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4632" y="1682496"/>
            <a:ext cx="39319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Rust: single binary, minimal memory, no GC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BPMN + 3D + training: no SMB rival combines this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Casdoor licensing: built-in monetization layer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MCP: AI-native, 2+ years ahead of peers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Data sovereignty: GDPR-trivial by default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45152" y="1261872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45152" y="1261872"/>
            <a:ext cx="4160520" cy="45720"/>
          </a:xfrm>
          <a:prstGeom prst="rect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2312" y="13533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9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82312" y="1682496"/>
            <a:ext cx="39319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Complex setup (ffmpeg, mediamtx, gs, cwebp)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SQLite ceiling for concurrent writes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Dual-storage model still creates user confusion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Wide scope makes it hard to explain in one line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7472" y="310896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7472" y="3108960"/>
            <a:ext cx="4160520" cy="45720"/>
          </a:xfrm>
          <a:prstGeom prst="rect">
            <a:avLst/>
          </a:prstGeom>
          <a:solidFill>
            <a:srgbClr val="2F6FD9"/>
          </a:solidFill>
          <a:ln w="12700">
            <a:solidFill>
              <a:srgbClr val="2F6F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200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" y="3529584"/>
            <a:ext cx="39319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Regulated industries: pharma/finance data sovereignty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Consulting delivery: js-tool folder = work product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App ecosystem: third-party folder types / plugin moat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BPMN -&gt; workflow engine: different product category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45152" y="310896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45152" y="3108960"/>
            <a:ext cx="4160520" cy="457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3200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82312" y="3529584"/>
            <a:ext cx="39319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'Good enough' SaaS (Drive + YouTube + Notion)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Rust contributor pool is smaller than JS/Python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External dependency rot (MediaMTX, Casdoor, ffmpeg)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Large self-hosted attack surface to maintain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95C8"/>
                </a:solidFill>
              </a:rPr>
              <a:t>10 / 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228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A8C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472" y="475488"/>
            <a:ext cx="8449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Phases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47472" y="1024128"/>
            <a:ext cx="8449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8C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Launch-ready in 3-4 months of focused work.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7472" y="1481328"/>
            <a:ext cx="1572768" cy="2761488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1481328"/>
            <a:ext cx="1572768" cy="45720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591056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8912" y="1865376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Storage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596896"/>
            <a:ext cx="1389888" cy="27432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88336"/>
            <a:ext cx="14081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A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home for files. Retire dual-storage. Workspace-first.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048256" y="1481328"/>
            <a:ext cx="1572768" cy="2761488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48256" y="1481328"/>
            <a:ext cx="1572768" cy="45720"/>
          </a:xfrm>
          <a:prstGeom prst="rect">
            <a:avLst/>
          </a:prstGeom>
          <a:solidFill>
            <a:srgbClr val="5EC4B6"/>
          </a:solidFill>
          <a:ln w="12700">
            <a:solidFill>
              <a:srgbClr val="5EC4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39696" y="1591056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139696" y="1865376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Transcoding as a Service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139696" y="2596896"/>
            <a:ext cx="1389888" cy="27432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39696" y="2688336"/>
            <a:ext cx="14081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A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 / thumbnails as jobs on workspace files.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749040" y="1481328"/>
            <a:ext cx="1572768" cy="2761488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749040" y="1481328"/>
            <a:ext cx="1572768" cy="45720"/>
          </a:xfrm>
          <a:prstGeom prst="rect">
            <a:avLst/>
          </a:prstGeom>
          <a:solidFill>
            <a:srgbClr val="A8C8FA"/>
          </a:solidFill>
          <a:ln w="12700">
            <a:solidFill>
              <a:srgbClr val="A8C8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1591056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8C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40480" y="1865376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Access Layer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840480" y="2596896"/>
            <a:ext cx="1389888" cy="27432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2688336"/>
            <a:ext cx="14081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A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API, WebDAV, MCP, access codes documented.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49824" y="1481328"/>
            <a:ext cx="1572768" cy="2761488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49824" y="1481328"/>
            <a:ext cx="1572768" cy="457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41264" y="1591056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B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41264" y="1865376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Apps &amp; Delivery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541264" y="2596896"/>
            <a:ext cx="1389888" cy="27432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41264" y="2688336"/>
            <a:ext cx="14081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A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js-tool deploys. BPMN/3D hardened. Consulting model live.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150608" y="1481328"/>
            <a:ext cx="1572768" cy="2761488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150608" y="1481328"/>
            <a:ext cx="1572768" cy="45720"/>
          </a:xfrm>
          <a:prstGeom prst="rect">
            <a:avLst/>
          </a:prstGeom>
          <a:solidFill>
            <a:srgbClr val="3DBD7D"/>
          </a:solidFill>
          <a:ln w="12700">
            <a:solidFill>
              <a:srgbClr val="3DBD7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42048" y="1591056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DB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242048" y="1865376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Ecosystem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242048" y="2596896"/>
            <a:ext cx="1389888" cy="27432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42048" y="2688336"/>
            <a:ext cx="14081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A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registry. Third-party folder apps installable.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47472" y="4325112"/>
            <a:ext cx="8449056" cy="64008"/>
          </a:xfrm>
          <a:prstGeom prst="rect">
            <a:avLst/>
          </a:prstGeom>
          <a:solidFill>
            <a:srgbClr val="2A4070"/>
          </a:solidFill>
          <a:ln w="12700">
            <a:solidFill>
              <a:srgbClr val="2A407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6032" y="44165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7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956816" y="44165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7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3657600" y="44165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7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358384" y="44165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7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059168" y="44165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7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4+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F6FD9"/>
          </a:solidFill>
          <a:ln w="12700">
            <a:solidFill>
              <a:srgbClr val="2F6F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5A7A"/>
                </a:solidFill>
              </a:rPr>
              <a:t>11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47472" y="228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PRE-LAUNCH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472" y="475488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must be true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communicating publicly.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47472" y="1536192"/>
            <a:ext cx="4279392" cy="978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536192"/>
            <a:ext cx="64008" cy="978408"/>
          </a:xfrm>
          <a:prstGeom prst="rect">
            <a:avLst/>
          </a:prstGeom>
          <a:solidFill>
            <a:srgbClr val="3DBD7D"/>
          </a:solidFill>
          <a:ln w="12700">
            <a:solidFill>
              <a:srgbClr val="3DBD7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627632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 Storage consolidation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30352" y="1993392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done. 'One place files live' must be true before saying it.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809744" y="1536192"/>
            <a:ext cx="4279392" cy="978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9744" y="1536192"/>
            <a:ext cx="64008" cy="978408"/>
          </a:xfrm>
          <a:prstGeom prst="rect">
            <a:avLst/>
          </a:prstGeom>
          <a:solidFill>
            <a:srgbClr val="3DBD7D"/>
          </a:solidFill>
          <a:ln w="12700">
            <a:solidFill>
              <a:srgbClr val="3DBD7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92624" y="1627632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 One-command Docker setup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992624" y="1993392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login for eval, Casdoor for production. Document this path.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47472" y="2651760"/>
            <a:ext cx="4279392" cy="978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7472" y="2651760"/>
            <a:ext cx="64008" cy="978408"/>
          </a:xfrm>
          <a:prstGeom prst="rect">
            <a:avLst/>
          </a:prstGeom>
          <a:solidFill>
            <a:srgbClr val="3DBD7D"/>
          </a:solidFill>
          <a:ln w="12700">
            <a:solidFill>
              <a:srgbClr val="3DBD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7432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 Demo video (2 min)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30352" y="31089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minimum viable marketing asset. Ironic for a media platform not to have one.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09744" y="2651760"/>
            <a:ext cx="4279392" cy="978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9744" y="2651760"/>
            <a:ext cx="64008" cy="978408"/>
          </a:xfrm>
          <a:prstGeom prst="rect">
            <a:avLst/>
          </a:prstGeom>
          <a:solidFill>
            <a:srgbClr val="3DBD7D"/>
          </a:solidFill>
          <a:ln w="12700">
            <a:solidFill>
              <a:srgbClr val="3DBD7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92624" y="27432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 Stable public API documented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992624" y="31089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'External tools connect' needs stable, documented interfaces to be credible.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47472" y="3767328"/>
            <a:ext cx="4279392" cy="978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47472" y="3767328"/>
            <a:ext cx="64008" cy="978408"/>
          </a:xfrm>
          <a:prstGeom prst="rect">
            <a:avLst/>
          </a:prstGeom>
          <a:solidFill>
            <a:srgbClr val="3DBD7D"/>
          </a:solidFill>
          <a:ln w="12700">
            <a:solidFill>
              <a:srgbClr val="3DBD7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385876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 js-tool consulting demo live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30352" y="4224528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pharma/industry Vue3 app in a workspace folder. Proof of the delivery model.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809744" y="3767328"/>
            <a:ext cx="4279392" cy="978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09744" y="3767328"/>
            <a:ext cx="64008" cy="978408"/>
          </a:xfrm>
          <a:prstGeom prst="rect">
            <a:avLst/>
          </a:prstGeom>
          <a:solidFill>
            <a:srgbClr val="3DBD7D"/>
          </a:solidFill>
          <a:ln w="12700">
            <a:solidFill>
              <a:srgbClr val="3DBD7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92624" y="385876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 README + setup guide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992624" y="4224528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from clone to running. Without this, no evaluator gets past first friction.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95C8"/>
                </a:solidFill>
              </a:rPr>
              <a:t>12 / 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228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A8C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472" y="530352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need to get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launch-ready.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47472" y="1719072"/>
            <a:ext cx="4279392" cy="1344168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719072"/>
            <a:ext cx="4279392" cy="45720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" y="18105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12064" y="202082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Clients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" y="23774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A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SMB, agency, or regulated-industry operators to run early deployments. Consulting use cases (pharma/finance) are ready now.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809744" y="1719072"/>
            <a:ext cx="4279392" cy="1344168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09744" y="1719072"/>
            <a:ext cx="4279392" cy="45720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74336" y="18105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974336" y="202082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74336" y="23774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A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engineering for Phase 1-3 acceleration. Technical writer for documentation, setup guide, and demo video.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7472" y="3200400"/>
            <a:ext cx="4279392" cy="1344168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7472" y="3200400"/>
            <a:ext cx="4279392" cy="45720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" y="3291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12064" y="350215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2064" y="385876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A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into self-hosted, privacy-first, and regulated-industry communities. Guidance on open-core vs commercial/hosted licensing.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9744" y="3200400"/>
            <a:ext cx="4279392" cy="1344168"/>
          </a:xfrm>
          <a:prstGeom prst="rect">
            <a:avLst/>
          </a:prstGeom>
          <a:solidFill>
            <a:srgbClr val="1A3A6C"/>
          </a:solidFill>
          <a:ln w="12700">
            <a:solidFill>
              <a:srgbClr val="1A3A6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09744" y="3200400"/>
            <a:ext cx="4279392" cy="45720"/>
          </a:xfrm>
          <a:prstGeom prst="rect">
            <a:avLst/>
          </a:prstGeom>
          <a:solidFill>
            <a:srgbClr val="3B8BF5"/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74336" y="3291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3B8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974336" y="350215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Runway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74336" y="385876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A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months of focused work to reach launch-ready. Small team, clear milestones, concrete deliverables before broader communication.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F6FD9"/>
          </a:solidFill>
          <a:ln w="12700">
            <a:solidFill>
              <a:srgbClr val="2F6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2F6FD9"/>
          </a:solidFill>
          <a:ln w="12700">
            <a:solidFill>
              <a:srgbClr val="2F6F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77240"/>
            <a:ext cx="76809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"Run your business from one place.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your own server."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C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competitor combines file management, media production, process modeling,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8C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immersive 3D delivery, and business training in a single self-hosted binary.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0" y="3456432"/>
            <a:ext cx="2743200" cy="36576"/>
          </a:xfrm>
          <a:prstGeom prst="rect">
            <a:avLst/>
          </a:prstGeom>
          <a:solidFill>
            <a:srgbClr val="3B8BF5">
              <a:alpha val="60000"/>
            </a:srgbClr>
          </a:solidFill>
          <a:ln w="12700">
            <a:solidFill>
              <a:srgbClr val="3B8B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61188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A8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not competing with one tool.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A8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competing with the combination — and winning.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Workspace Platform — Executive Deck</dc:title>
  <dc:subject>PptxGenJS Presentation</dc:subject>
  <dc:creator>Juergen</dc:creator>
  <cp:lastModifiedBy>Juergen</cp:lastModifiedBy>
  <cp:revision>1</cp:revision>
  <dcterms:created xsi:type="dcterms:W3CDTF">2026-03-05T20:52:35Z</dcterms:created>
  <dcterms:modified xsi:type="dcterms:W3CDTF">2026-03-05T20:52:35Z</dcterms:modified>
</cp:coreProperties>
</file>